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692000" cx="15120000"/>
  <p:notesSz cx="6858000" cy="9144000"/>
  <p:embeddedFontLst>
    <p:embeddedFont>
      <p:font typeface="Catamaran"/>
      <p:regular r:id="rId11"/>
      <p:bold r:id="rId12"/>
    </p:embeddedFont>
    <p:embeddedFont>
      <p:font typeface="Caveat"/>
      <p:regular r:id="rId13"/>
      <p:bold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22" Type="http://schemas.openxmlformats.org/officeDocument/2006/relationships/font" Target="fonts/GoogleSans-boldItalic.fntdata"/><Relationship Id="rId21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Catamaran-regular.fntdata"/><Relationship Id="rId10" Type="http://schemas.openxmlformats.org/officeDocument/2006/relationships/slide" Target="slides/slide5.xml"/><Relationship Id="rId13" Type="http://schemas.openxmlformats.org/officeDocument/2006/relationships/font" Target="fonts/Caveat-regular.fntdata"/><Relationship Id="rId12" Type="http://schemas.openxmlformats.org/officeDocument/2006/relationships/font" Target="fonts/Catamaran-bold.fntdata"/><Relationship Id="rId15" Type="http://schemas.openxmlformats.org/officeDocument/2006/relationships/font" Target="fonts/Montserrat-regular.fntdata"/><Relationship Id="rId14" Type="http://schemas.openxmlformats.org/officeDocument/2006/relationships/font" Target="fonts/Caveat-bold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GoogleSans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GIS Day is on Wednesday 14th November. Its a chance to celebrate how geographic information systems or GIS technology is making a difference in our society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6895d6e63_0_0:notes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6895d6e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GIS Day is on Wednesday 14th November. Its a chance to celebrate how geographic information systems or GIS technology is making a difference in our society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6895d6e63_0_35:notes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6895d6e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GIS Day is on Wednesday 14th November. Its a chance to celebrate how geographic information systems or GIS technology is making a difference in our society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6895d6e63_0_70:notes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6895d6e6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GIS Day is on Wednesday 14th November. Its a chance to celebrate how geographic information systems or GIS technology is making a difference in our society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6895d6e63_0_105:notes"/>
          <p:cNvSpPr/>
          <p:nvPr>
            <p:ph idx="2" type="sldImg"/>
          </p:nvPr>
        </p:nvSpPr>
        <p:spPr>
          <a:xfrm>
            <a:off x="1004730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6895d6e6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GIS Day is on Wednesday 14th November. Its a chance to celebrate how geographic information systems or GIS technology is making a difference in our society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>
            <a:off x="0" y="2094700"/>
            <a:ext cx="15120000" cy="83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>
            <a:off x="0" y="1056850"/>
            <a:ext cx="15120000" cy="4079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3550" y="6531750"/>
            <a:ext cx="15120000" cy="4160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15409" y="4471058"/>
            <a:ext cx="140892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15409" y="2395696"/>
            <a:ext cx="66141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7990583" y="2395696"/>
            <a:ext cx="66141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hyperlink" Target="http://hae.re/geo18" TargetMode="External"/><Relationship Id="rId22" Type="http://schemas.openxmlformats.org/officeDocument/2006/relationships/hyperlink" Target="http://hae.re/walk" TargetMode="External"/><Relationship Id="rId21" Type="http://schemas.openxmlformats.org/officeDocument/2006/relationships/hyperlink" Target="http://hae.re/mapcomp" TargetMode="External"/><Relationship Id="rId24" Type="http://schemas.openxmlformats.org/officeDocument/2006/relationships/hyperlink" Target="http://hae.re/cube" TargetMode="External"/><Relationship Id="rId2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://hae.re/moon" TargetMode="External"/><Relationship Id="rId9" Type="http://schemas.openxmlformats.org/officeDocument/2006/relationships/hyperlink" Target="http://hae.re/2014" TargetMode="External"/><Relationship Id="rId26" Type="http://schemas.openxmlformats.org/officeDocument/2006/relationships/hyperlink" Target="http://hae.re/school" TargetMode="External"/><Relationship Id="rId25" Type="http://schemas.openxmlformats.org/officeDocument/2006/relationships/image" Target="../media/image8.png"/><Relationship Id="rId28" Type="http://schemas.openxmlformats.org/officeDocument/2006/relationships/image" Target="../media/image7.png"/><Relationship Id="rId27" Type="http://schemas.openxmlformats.org/officeDocument/2006/relationships/hyperlink" Target="http://hae.re/tardis" TargetMode="External"/><Relationship Id="rId5" Type="http://schemas.openxmlformats.org/officeDocument/2006/relationships/hyperlink" Target="http://hae.re/moon" TargetMode="External"/><Relationship Id="rId6" Type="http://schemas.openxmlformats.org/officeDocument/2006/relationships/image" Target="../media/image5.png"/><Relationship Id="rId29" Type="http://schemas.openxmlformats.org/officeDocument/2006/relationships/hyperlink" Target="http://hae.re/gisday" TargetMode="External"/><Relationship Id="rId7" Type="http://schemas.openxmlformats.org/officeDocument/2006/relationships/hyperlink" Target="http://hae.re/2013" TargetMode="External"/><Relationship Id="rId8" Type="http://schemas.openxmlformats.org/officeDocument/2006/relationships/hyperlink" Target="http://hae.re/2013" TargetMode="External"/><Relationship Id="rId31" Type="http://schemas.openxmlformats.org/officeDocument/2006/relationships/hyperlink" Target="http://hae.re/gisday4teachers" TargetMode="External"/><Relationship Id="rId30" Type="http://schemas.openxmlformats.org/officeDocument/2006/relationships/hyperlink" Target="http://hae.re/gisday" TargetMode="External"/><Relationship Id="rId11" Type="http://schemas.openxmlformats.org/officeDocument/2006/relationships/hyperlink" Target="http://hae.re/2015" TargetMode="External"/><Relationship Id="rId33" Type="http://schemas.openxmlformats.org/officeDocument/2006/relationships/image" Target="../media/image2.png"/><Relationship Id="rId10" Type="http://schemas.openxmlformats.org/officeDocument/2006/relationships/hyperlink" Target="http://hae.re/2014" TargetMode="External"/><Relationship Id="rId32" Type="http://schemas.openxmlformats.org/officeDocument/2006/relationships/hyperlink" Target="http://hae.re/gisday" TargetMode="External"/><Relationship Id="rId13" Type="http://schemas.openxmlformats.org/officeDocument/2006/relationships/hyperlink" Target="http://hae.re/2017" TargetMode="External"/><Relationship Id="rId35" Type="http://schemas.openxmlformats.org/officeDocument/2006/relationships/image" Target="../media/image1.png"/><Relationship Id="rId12" Type="http://schemas.openxmlformats.org/officeDocument/2006/relationships/hyperlink" Target="http://hae.re/2016" TargetMode="External"/><Relationship Id="rId34" Type="http://schemas.openxmlformats.org/officeDocument/2006/relationships/image" Target="../media/image6.png"/><Relationship Id="rId15" Type="http://schemas.openxmlformats.org/officeDocument/2006/relationships/hyperlink" Target="http://hae.re/2018" TargetMode="External"/><Relationship Id="rId14" Type="http://schemas.openxmlformats.org/officeDocument/2006/relationships/hyperlink" Target="http://hae.re/2017" TargetMode="External"/><Relationship Id="rId17" Type="http://schemas.openxmlformats.org/officeDocument/2006/relationships/hyperlink" Target="http://hae.re/2017mmw" TargetMode="External"/><Relationship Id="rId16" Type="http://schemas.openxmlformats.org/officeDocument/2006/relationships/hyperlink" Target="http://hae.re/2018" TargetMode="External"/><Relationship Id="rId19" Type="http://schemas.openxmlformats.org/officeDocument/2006/relationships/hyperlink" Target="http://hae.re/2018mmw" TargetMode="External"/><Relationship Id="rId18" Type="http://schemas.openxmlformats.org/officeDocument/2006/relationships/hyperlink" Target="http://hae.re/2018mmw" TargetMode="Externa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hyperlink" Target="http://hae.re/tardis" TargetMode="External"/><Relationship Id="rId21" Type="http://schemas.openxmlformats.org/officeDocument/2006/relationships/hyperlink" Target="http://hae.re/school" TargetMode="External"/><Relationship Id="rId24" Type="http://schemas.openxmlformats.org/officeDocument/2006/relationships/hyperlink" Target="http://hae.re/gisday" TargetMode="External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://hae.re/moon" TargetMode="External"/><Relationship Id="rId9" Type="http://schemas.openxmlformats.org/officeDocument/2006/relationships/hyperlink" Target="http://hae.re/2016" TargetMode="External"/><Relationship Id="rId26" Type="http://schemas.openxmlformats.org/officeDocument/2006/relationships/hyperlink" Target="http://hae.re/gisday4teachers" TargetMode="External"/><Relationship Id="rId25" Type="http://schemas.openxmlformats.org/officeDocument/2006/relationships/hyperlink" Target="http://hae.re/gisday" TargetMode="External"/><Relationship Id="rId28" Type="http://schemas.openxmlformats.org/officeDocument/2006/relationships/image" Target="../media/image2.png"/><Relationship Id="rId27" Type="http://schemas.openxmlformats.org/officeDocument/2006/relationships/hyperlink" Target="http://hae.re/gisday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hae.re/2013" TargetMode="External"/><Relationship Id="rId29" Type="http://schemas.openxmlformats.org/officeDocument/2006/relationships/image" Target="../media/image6.png"/><Relationship Id="rId7" Type="http://schemas.openxmlformats.org/officeDocument/2006/relationships/hyperlink" Target="http://hae.re/2014" TargetMode="External"/><Relationship Id="rId8" Type="http://schemas.openxmlformats.org/officeDocument/2006/relationships/hyperlink" Target="http://hae.re/2015" TargetMode="External"/><Relationship Id="rId30" Type="http://schemas.openxmlformats.org/officeDocument/2006/relationships/image" Target="../media/image1.png"/><Relationship Id="rId11" Type="http://schemas.openxmlformats.org/officeDocument/2006/relationships/hyperlink" Target="http://hae.re/2018" TargetMode="External"/><Relationship Id="rId10" Type="http://schemas.openxmlformats.org/officeDocument/2006/relationships/hyperlink" Target="http://hae.re/2017" TargetMode="External"/><Relationship Id="rId13" Type="http://schemas.openxmlformats.org/officeDocument/2006/relationships/hyperlink" Target="http://hae.re/2018mmw" TargetMode="External"/><Relationship Id="rId12" Type="http://schemas.openxmlformats.org/officeDocument/2006/relationships/hyperlink" Target="http://hae.re/2017mmw" TargetMode="External"/><Relationship Id="rId15" Type="http://schemas.openxmlformats.org/officeDocument/2006/relationships/hyperlink" Target="http://hae.re/geo18" TargetMode="External"/><Relationship Id="rId14" Type="http://schemas.openxmlformats.org/officeDocument/2006/relationships/hyperlink" Target="http://hae.re/2018mmw" TargetMode="External"/><Relationship Id="rId17" Type="http://schemas.openxmlformats.org/officeDocument/2006/relationships/hyperlink" Target="http://hae.re/walk" TargetMode="External"/><Relationship Id="rId16" Type="http://schemas.openxmlformats.org/officeDocument/2006/relationships/hyperlink" Target="http://hae.re/mapcomp" TargetMode="External"/><Relationship Id="rId19" Type="http://schemas.openxmlformats.org/officeDocument/2006/relationships/hyperlink" Target="http://hae.re/cube" TargetMode="External"/><Relationship Id="rId1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hyperlink" Target="http://hae.re/tardis" TargetMode="External"/><Relationship Id="rId21" Type="http://schemas.openxmlformats.org/officeDocument/2006/relationships/hyperlink" Target="http://hae.re/school" TargetMode="External"/><Relationship Id="rId24" Type="http://schemas.openxmlformats.org/officeDocument/2006/relationships/hyperlink" Target="http://hae.re/gisday" TargetMode="External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://hae.re/moon" TargetMode="External"/><Relationship Id="rId9" Type="http://schemas.openxmlformats.org/officeDocument/2006/relationships/hyperlink" Target="http://hae.re/2016" TargetMode="External"/><Relationship Id="rId26" Type="http://schemas.openxmlformats.org/officeDocument/2006/relationships/hyperlink" Target="http://hae.re/gisday4teachers" TargetMode="External"/><Relationship Id="rId25" Type="http://schemas.openxmlformats.org/officeDocument/2006/relationships/hyperlink" Target="http://hae.re/gisday" TargetMode="External"/><Relationship Id="rId28" Type="http://schemas.openxmlformats.org/officeDocument/2006/relationships/image" Target="../media/image2.png"/><Relationship Id="rId27" Type="http://schemas.openxmlformats.org/officeDocument/2006/relationships/hyperlink" Target="http://hae.re/gisday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hae.re/2013" TargetMode="External"/><Relationship Id="rId29" Type="http://schemas.openxmlformats.org/officeDocument/2006/relationships/image" Target="../media/image6.png"/><Relationship Id="rId7" Type="http://schemas.openxmlformats.org/officeDocument/2006/relationships/hyperlink" Target="http://hae.re/2014" TargetMode="External"/><Relationship Id="rId8" Type="http://schemas.openxmlformats.org/officeDocument/2006/relationships/hyperlink" Target="http://hae.re/2015" TargetMode="External"/><Relationship Id="rId30" Type="http://schemas.openxmlformats.org/officeDocument/2006/relationships/image" Target="../media/image1.png"/><Relationship Id="rId11" Type="http://schemas.openxmlformats.org/officeDocument/2006/relationships/hyperlink" Target="http://hae.re/2018" TargetMode="External"/><Relationship Id="rId10" Type="http://schemas.openxmlformats.org/officeDocument/2006/relationships/hyperlink" Target="http://hae.re/2017" TargetMode="External"/><Relationship Id="rId13" Type="http://schemas.openxmlformats.org/officeDocument/2006/relationships/hyperlink" Target="http://hae.re/2018mmw" TargetMode="External"/><Relationship Id="rId12" Type="http://schemas.openxmlformats.org/officeDocument/2006/relationships/hyperlink" Target="http://hae.re/2017mmw" TargetMode="External"/><Relationship Id="rId15" Type="http://schemas.openxmlformats.org/officeDocument/2006/relationships/hyperlink" Target="http://hae.re/geo18" TargetMode="External"/><Relationship Id="rId14" Type="http://schemas.openxmlformats.org/officeDocument/2006/relationships/hyperlink" Target="http://hae.re/2018mmw" TargetMode="External"/><Relationship Id="rId17" Type="http://schemas.openxmlformats.org/officeDocument/2006/relationships/hyperlink" Target="http://hae.re/walk" TargetMode="External"/><Relationship Id="rId16" Type="http://schemas.openxmlformats.org/officeDocument/2006/relationships/hyperlink" Target="http://hae.re/mapcomp" TargetMode="External"/><Relationship Id="rId19" Type="http://schemas.openxmlformats.org/officeDocument/2006/relationships/hyperlink" Target="http://hae.re/cube" TargetMode="External"/><Relationship Id="rId1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hyperlink" Target="http://hae.re/tardis" TargetMode="External"/><Relationship Id="rId21" Type="http://schemas.openxmlformats.org/officeDocument/2006/relationships/hyperlink" Target="http://hae.re/school" TargetMode="External"/><Relationship Id="rId24" Type="http://schemas.openxmlformats.org/officeDocument/2006/relationships/hyperlink" Target="http://hae.re/gisday" TargetMode="External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://hae.re/moon" TargetMode="External"/><Relationship Id="rId9" Type="http://schemas.openxmlformats.org/officeDocument/2006/relationships/hyperlink" Target="http://hae.re/2016" TargetMode="External"/><Relationship Id="rId26" Type="http://schemas.openxmlformats.org/officeDocument/2006/relationships/hyperlink" Target="http://hae.re/gisday4teachers" TargetMode="External"/><Relationship Id="rId25" Type="http://schemas.openxmlformats.org/officeDocument/2006/relationships/hyperlink" Target="http://hae.re/gisday" TargetMode="External"/><Relationship Id="rId28" Type="http://schemas.openxmlformats.org/officeDocument/2006/relationships/image" Target="../media/image2.png"/><Relationship Id="rId27" Type="http://schemas.openxmlformats.org/officeDocument/2006/relationships/hyperlink" Target="http://hae.re/gisday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hae.re/2013" TargetMode="External"/><Relationship Id="rId29" Type="http://schemas.openxmlformats.org/officeDocument/2006/relationships/image" Target="../media/image6.png"/><Relationship Id="rId7" Type="http://schemas.openxmlformats.org/officeDocument/2006/relationships/hyperlink" Target="http://hae.re/2014" TargetMode="External"/><Relationship Id="rId8" Type="http://schemas.openxmlformats.org/officeDocument/2006/relationships/hyperlink" Target="http://hae.re/2015" TargetMode="External"/><Relationship Id="rId30" Type="http://schemas.openxmlformats.org/officeDocument/2006/relationships/image" Target="../media/image1.png"/><Relationship Id="rId11" Type="http://schemas.openxmlformats.org/officeDocument/2006/relationships/hyperlink" Target="http://hae.re/2018" TargetMode="External"/><Relationship Id="rId10" Type="http://schemas.openxmlformats.org/officeDocument/2006/relationships/hyperlink" Target="http://hae.re/2017" TargetMode="External"/><Relationship Id="rId13" Type="http://schemas.openxmlformats.org/officeDocument/2006/relationships/hyperlink" Target="http://hae.re/2018mmw" TargetMode="External"/><Relationship Id="rId12" Type="http://schemas.openxmlformats.org/officeDocument/2006/relationships/hyperlink" Target="http://hae.re/2017mmw" TargetMode="External"/><Relationship Id="rId15" Type="http://schemas.openxmlformats.org/officeDocument/2006/relationships/hyperlink" Target="http://hae.re/geo18" TargetMode="External"/><Relationship Id="rId14" Type="http://schemas.openxmlformats.org/officeDocument/2006/relationships/hyperlink" Target="http://hae.re/2018mmw" TargetMode="External"/><Relationship Id="rId17" Type="http://schemas.openxmlformats.org/officeDocument/2006/relationships/hyperlink" Target="http://hae.re/walk" TargetMode="External"/><Relationship Id="rId16" Type="http://schemas.openxmlformats.org/officeDocument/2006/relationships/hyperlink" Target="http://hae.re/mapcomp" TargetMode="External"/><Relationship Id="rId19" Type="http://schemas.openxmlformats.org/officeDocument/2006/relationships/hyperlink" Target="http://hae.re/cube" TargetMode="External"/><Relationship Id="rId1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.png"/><Relationship Id="rId22" Type="http://schemas.openxmlformats.org/officeDocument/2006/relationships/hyperlink" Target="http://hae.re/tardis" TargetMode="External"/><Relationship Id="rId21" Type="http://schemas.openxmlformats.org/officeDocument/2006/relationships/hyperlink" Target="http://hae.re/school" TargetMode="External"/><Relationship Id="rId24" Type="http://schemas.openxmlformats.org/officeDocument/2006/relationships/hyperlink" Target="http://hae.re/gisday" TargetMode="External"/><Relationship Id="rId2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://hae.re/moon" TargetMode="External"/><Relationship Id="rId9" Type="http://schemas.openxmlformats.org/officeDocument/2006/relationships/hyperlink" Target="http://hae.re/2016" TargetMode="External"/><Relationship Id="rId26" Type="http://schemas.openxmlformats.org/officeDocument/2006/relationships/hyperlink" Target="http://hae.re/gisday4teachers" TargetMode="External"/><Relationship Id="rId25" Type="http://schemas.openxmlformats.org/officeDocument/2006/relationships/hyperlink" Target="http://hae.re/gisday" TargetMode="External"/><Relationship Id="rId28" Type="http://schemas.openxmlformats.org/officeDocument/2006/relationships/image" Target="../media/image2.png"/><Relationship Id="rId27" Type="http://schemas.openxmlformats.org/officeDocument/2006/relationships/hyperlink" Target="http://hae.re/gisday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hae.re/2013" TargetMode="External"/><Relationship Id="rId29" Type="http://schemas.openxmlformats.org/officeDocument/2006/relationships/image" Target="../media/image6.png"/><Relationship Id="rId7" Type="http://schemas.openxmlformats.org/officeDocument/2006/relationships/hyperlink" Target="http://hae.re/2014" TargetMode="External"/><Relationship Id="rId8" Type="http://schemas.openxmlformats.org/officeDocument/2006/relationships/hyperlink" Target="http://hae.re/2015" TargetMode="External"/><Relationship Id="rId30" Type="http://schemas.openxmlformats.org/officeDocument/2006/relationships/image" Target="../media/image1.png"/><Relationship Id="rId11" Type="http://schemas.openxmlformats.org/officeDocument/2006/relationships/hyperlink" Target="http://hae.re/2018" TargetMode="External"/><Relationship Id="rId10" Type="http://schemas.openxmlformats.org/officeDocument/2006/relationships/hyperlink" Target="http://hae.re/2017" TargetMode="External"/><Relationship Id="rId13" Type="http://schemas.openxmlformats.org/officeDocument/2006/relationships/hyperlink" Target="http://hae.re/2018mmw" TargetMode="External"/><Relationship Id="rId12" Type="http://schemas.openxmlformats.org/officeDocument/2006/relationships/hyperlink" Target="http://hae.re/2017mmw" TargetMode="External"/><Relationship Id="rId15" Type="http://schemas.openxmlformats.org/officeDocument/2006/relationships/hyperlink" Target="http://hae.re/geo18" TargetMode="External"/><Relationship Id="rId14" Type="http://schemas.openxmlformats.org/officeDocument/2006/relationships/hyperlink" Target="http://hae.re/2018mmw" TargetMode="External"/><Relationship Id="rId17" Type="http://schemas.openxmlformats.org/officeDocument/2006/relationships/hyperlink" Target="http://hae.re/walk" TargetMode="External"/><Relationship Id="rId16" Type="http://schemas.openxmlformats.org/officeDocument/2006/relationships/hyperlink" Target="http://hae.re/mapcomp" TargetMode="External"/><Relationship Id="rId19" Type="http://schemas.openxmlformats.org/officeDocument/2006/relationships/hyperlink" Target="http://hae.re/cube" TargetMode="External"/><Relationship Id="rId1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894">
            <a:off x="12064638" y="574173"/>
            <a:ext cx="1831126" cy="24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3025175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Ever wonder about the </a:t>
            </a: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moon's</a:t>
            </a: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dark side?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</a:t>
            </a: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moon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07675" y="35450"/>
            <a:ext cx="6015000" cy="1331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   DAY</a:t>
            </a:r>
            <a:endParaRPr b="1" sz="9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234760" y="274365"/>
            <a:ext cx="2249400" cy="10854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14TH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NOV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12649">
            <a:off x="754786" y="413095"/>
            <a:ext cx="2793282" cy="279323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 rot="1798">
            <a:off x="532825" y="3276575"/>
            <a:ext cx="2868300" cy="38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We do maps now, Maps are cool!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32775" y="2660900"/>
            <a:ext cx="30783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INVESTIGATE!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0880975" y="2217200"/>
            <a:ext cx="3362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1092050" y="2660900"/>
            <a:ext cx="36126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PROCRASTINATE!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1075853" y="3324475"/>
            <a:ext cx="3452700" cy="61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There's a map that doesn't make sense. Let's go and poke it with a stick!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32775" y="4578925"/>
            <a:ext cx="3885900" cy="444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Online curriculum material from the LINZ geospatial Virtual Field Trips, from CORE Education’s LEARNZ Programme: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2013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Welcome to Geospatial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2014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Skills, tools and data 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hae.re/2015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Using drones and tools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hae.re/2016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and, sea and air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2017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Natural Hazards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ae.re/2018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Sky and Space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2017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hae.re/2017mmw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2018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hae.re/2018mmw</a:t>
            </a:r>
            <a:b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Eagle Technology GIS in Schools Lesson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plans for the NCEA Geography spatial analysis standards.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hae.re/geo18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NZ Cartographic Society 2016-2017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Children's Map Competition - see the Winners!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hae.re/mapcomp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32775" y="3864450"/>
            <a:ext cx="4651800" cy="9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related activities that school teachers and classes can use:</a:t>
            </a:r>
            <a:endParaRPr b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0886800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Virtual 360 Views of NZ’s Great Walks 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873550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the rainforest at your place.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hae.re/walk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155863" y="7544300"/>
            <a:ext cx="990901" cy="10853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70" name="Google Shape;70;p13"/>
          <p:cNvSpPr txBox="1"/>
          <p:nvPr/>
        </p:nvSpPr>
        <p:spPr>
          <a:xfrm>
            <a:off x="5041475" y="5511475"/>
            <a:ext cx="5216700" cy="14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Create your own 3D Cube!</a:t>
            </a:r>
            <a:r>
              <a:rPr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Download a PDF, print and sellotape together to create your own map cube.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hae.re/cube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750172" y="7470226"/>
            <a:ext cx="1511699" cy="17368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72" name="Google Shape;72;p13"/>
          <p:cNvSpPr txBox="1"/>
          <p:nvPr/>
        </p:nvSpPr>
        <p:spPr>
          <a:xfrm>
            <a:off x="10943238" y="4336950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classrooms around the world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1006013" y="5859350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London to the </a:t>
            </a: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Himalayas</a:t>
            </a: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! 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hae.re/school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3101363" y="5859653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Or smaller on the outside?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hae.re/tardis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2962163" y="4380128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Bigger on the Inside?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1006013" y="4857200"/>
            <a:ext cx="1511700" cy="1035174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77" name="Google Shape;77;p13"/>
          <p:cNvSpPr txBox="1"/>
          <p:nvPr/>
        </p:nvSpPr>
        <p:spPr>
          <a:xfrm>
            <a:off x="10873550" y="10047150"/>
            <a:ext cx="404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This poster: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Resources: 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hae.re/gisday4teachers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i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2887885" y="4882741"/>
            <a:ext cx="1660266" cy="933899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79" name="Google Shape;79;p13"/>
          <p:cNvSpPr txBox="1"/>
          <p:nvPr/>
        </p:nvSpPr>
        <p:spPr>
          <a:xfrm>
            <a:off x="7993063" y="7171675"/>
            <a:ext cx="1307700" cy="15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ARE </a:t>
            </a:r>
            <a:b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3038425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Ready for an off this world experience?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420250" y="9553550"/>
            <a:ext cx="6102300" cy="737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www.gisday.com</a:t>
            </a:r>
            <a:endParaRPr b="1" sz="3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 rot="10800000">
            <a:off x="13204288" y="7649488"/>
            <a:ext cx="1166675" cy="8750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83" name="Google Shape;83;p13"/>
          <p:cNvSpPr/>
          <p:nvPr/>
        </p:nvSpPr>
        <p:spPr>
          <a:xfrm>
            <a:off x="4420250" y="280650"/>
            <a:ext cx="6192600" cy="1168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57225" rotWithShape="0" algn="bl" dir="5400000" dist="19050">
              <a:srgbClr val="073763">
                <a:alpha val="8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 rot="-174069">
            <a:off x="5144054" y="2614637"/>
            <a:ext cx="5073803" cy="2604632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5400000" dist="19050">
              <a:srgbClr val="0000FF">
                <a:alpha val="8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it’s a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42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Happy Mappy, Finey Liney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kind of thing!</a:t>
            </a:r>
            <a:endParaRPr b="1" sz="3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363350" y="1562325"/>
            <a:ext cx="6249600" cy="1085400"/>
          </a:xfrm>
          <a:prstGeom prst="rect">
            <a:avLst/>
          </a:prstGeom>
          <a:noFill/>
          <a:ln>
            <a:noFill/>
          </a:ln>
          <a:effectLst>
            <a:outerShdw blurRad="600075" rotWithShape="0" algn="bl" dir="5400000" dist="19050">
              <a:srgbClr val="0000FF">
                <a:alpha val="6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Day is Wednesday 14th November.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Celebrate how geographic information systems or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technology is making a difference in our society.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 rot="-900000">
            <a:off x="6686447" y="7057857"/>
            <a:ext cx="1569901" cy="98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00">
        <p14:prism dir="l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894">
            <a:off x="12064638" y="574173"/>
            <a:ext cx="1831126" cy="24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3025175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Ever wonder about the moon's dark side?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hae.re/moon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507675" y="35450"/>
            <a:ext cx="6015000" cy="1331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   DAY</a:t>
            </a:r>
            <a:endParaRPr b="1" sz="9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234760" y="274365"/>
            <a:ext cx="2249400" cy="10854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14TH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NOV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12649">
            <a:off x="754786" y="413095"/>
            <a:ext cx="2793282" cy="27932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 rot="1798">
            <a:off x="532825" y="3276575"/>
            <a:ext cx="2868300" cy="38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We do maps now, Maps are cool!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2775" y="2660900"/>
            <a:ext cx="30783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INVESTIGATE!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880975" y="2217200"/>
            <a:ext cx="3362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092050" y="2660900"/>
            <a:ext cx="36126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PROCRASTINATE!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075853" y="3324475"/>
            <a:ext cx="3452700" cy="61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There's a map that doesn't make sense. Let's go and poke it with a stick!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32775" y="4578925"/>
            <a:ext cx="3885900" cy="444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Online curriculum material from the LINZ geospatial Virtual Field Trips, from CORE Education’s LEARNZ Programme: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hae.re/2013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Welcome to Geospatial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hae.re/2014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Skills, tools and data 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hae.re/2015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Using drones and tools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hae.re/2016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sea and air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Natural Hazards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Sky and Space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2017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hae.re/2017mmw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2018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hae.re/2018mmw</a:t>
            </a:r>
            <a:b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Eagle Technology GIS in Schools Lesson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plans for the NCEA Geography spatial analysis standards.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hae.re/geo18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NZ Cartographic Society 2016-2017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Children's Map Competition - see the Winners!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hae.re/mapcomp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32775" y="3864450"/>
            <a:ext cx="4651800" cy="9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related activities that school teachers and classes can use:</a:t>
            </a:r>
            <a:endParaRPr b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886800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Virtual 360 Views of NZ’s Great Walks 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873550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the rainforest at your place.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hae.re/walk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155863" y="7544300"/>
            <a:ext cx="990901" cy="10853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06" name="Google Shape;106;p14"/>
          <p:cNvSpPr txBox="1"/>
          <p:nvPr/>
        </p:nvSpPr>
        <p:spPr>
          <a:xfrm>
            <a:off x="5041475" y="5511475"/>
            <a:ext cx="5216700" cy="14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Create your own 3D Cube!</a:t>
            </a:r>
            <a:r>
              <a:rPr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Download a PDF, print and sellotape together to create your own map cube.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hae.re/cube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50172" y="7470226"/>
            <a:ext cx="1511699" cy="17368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08" name="Google Shape;108;p14"/>
          <p:cNvSpPr txBox="1"/>
          <p:nvPr/>
        </p:nvSpPr>
        <p:spPr>
          <a:xfrm>
            <a:off x="10943238" y="4336950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classrooms around the world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1006013" y="5859350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London to the Himalayas! 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hae.re/school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3101363" y="5859653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Or smaller on the outside?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hae.re/tardis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2962163" y="4380128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Bigger on the Inside?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006013" y="4857200"/>
            <a:ext cx="1511700" cy="1035174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13" name="Google Shape;113;p14"/>
          <p:cNvSpPr txBox="1"/>
          <p:nvPr/>
        </p:nvSpPr>
        <p:spPr>
          <a:xfrm>
            <a:off x="10873550" y="10047150"/>
            <a:ext cx="404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This poster: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Resources: 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hae.re/gisday4teachers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i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2887885" y="4882741"/>
            <a:ext cx="1660266" cy="933899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15" name="Google Shape;115;p14"/>
          <p:cNvSpPr txBox="1"/>
          <p:nvPr/>
        </p:nvSpPr>
        <p:spPr>
          <a:xfrm>
            <a:off x="7993063" y="7171675"/>
            <a:ext cx="1307700" cy="15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ARE </a:t>
            </a:r>
            <a:b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3038425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Ready for an off this world experience?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420250" y="9553550"/>
            <a:ext cx="6102300" cy="737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www.gisday.com</a:t>
            </a:r>
            <a:endParaRPr b="1" sz="3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 rot="10800000">
            <a:off x="13204288" y="7649488"/>
            <a:ext cx="1166675" cy="8750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19" name="Google Shape;119;p14"/>
          <p:cNvSpPr/>
          <p:nvPr/>
        </p:nvSpPr>
        <p:spPr>
          <a:xfrm>
            <a:off x="4420250" y="280650"/>
            <a:ext cx="6192600" cy="1168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57225" rotWithShape="0" algn="bl" dir="5400000" dist="19050">
              <a:srgbClr val="073763">
                <a:alpha val="8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 rot="-174069">
            <a:off x="5144054" y="2614637"/>
            <a:ext cx="5073803" cy="2604632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5400000" dist="19050">
              <a:srgbClr val="0000FF">
                <a:alpha val="8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it’s a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42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Happy Mappy, Finey Liney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kind of thing!</a:t>
            </a:r>
            <a:endParaRPr b="1" sz="3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363350" y="1562325"/>
            <a:ext cx="6249600" cy="1085400"/>
          </a:xfrm>
          <a:prstGeom prst="rect">
            <a:avLst/>
          </a:prstGeom>
          <a:noFill/>
          <a:ln>
            <a:noFill/>
          </a:ln>
          <a:effectLst>
            <a:outerShdw blurRad="600075" rotWithShape="0" algn="bl" dir="5400000" dist="19050">
              <a:srgbClr val="0000FF">
                <a:alpha val="6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Day is Wednesday 14th November.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Celebrate how geographic information systems or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technology is making a difference in our society.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 rot="-900000">
            <a:off x="6686447" y="7057857"/>
            <a:ext cx="1569901" cy="98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894">
            <a:off x="12064638" y="574173"/>
            <a:ext cx="1831126" cy="24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3025175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Ever wonder about the moon's dark side?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hae.re/moon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4507675" y="35450"/>
            <a:ext cx="6015000" cy="1331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   DAY</a:t>
            </a:r>
            <a:endParaRPr b="1" sz="9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234760" y="274365"/>
            <a:ext cx="2249400" cy="10854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14TH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NOV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12649">
            <a:off x="754786" y="413095"/>
            <a:ext cx="2793282" cy="2793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 rot="1798">
            <a:off x="532825" y="3276575"/>
            <a:ext cx="2868300" cy="38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We do maps now, Maps are cool!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32775" y="2660900"/>
            <a:ext cx="30783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INVESTIGATE!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0880975" y="2217200"/>
            <a:ext cx="3362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1092050" y="2660900"/>
            <a:ext cx="36126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PROCRASTINATE!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1075853" y="3324475"/>
            <a:ext cx="3452700" cy="61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There's a map that doesn't make sense. Let's go and poke it with a stick!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32775" y="4578925"/>
            <a:ext cx="3885900" cy="444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Online curriculum material from the LINZ geospatial Virtual Field Trips, from CORE Education’s LEARNZ Programme: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hae.re/2013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Welcome to Geospatial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hae.re/2014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Skills, tools and data 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hae.re/2015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Using drones and tools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hae.re/2016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sea and air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Natural Hazards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Sky and Space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2017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hae.re/2017mmw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2018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hae.re/2018mmw</a:t>
            </a:r>
            <a:b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Eagle Technology GIS in Schools Lesson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plans for the NCEA Geography spatial analysis standards.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hae.re/geo18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NZ Cartographic Society 2016-2017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Children's Map Competition - see the Winners!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hae.re/mapcomp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32775" y="3864450"/>
            <a:ext cx="4651800" cy="9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related activities that school teachers and classes can use:</a:t>
            </a:r>
            <a:endParaRPr b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0886800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Virtual 360 Views of NZ’s Great Walks 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0873550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the rainforest at your place.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hae.re/walk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155863" y="7544300"/>
            <a:ext cx="990901" cy="10853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42" name="Google Shape;142;p15"/>
          <p:cNvSpPr txBox="1"/>
          <p:nvPr/>
        </p:nvSpPr>
        <p:spPr>
          <a:xfrm>
            <a:off x="5041475" y="5511475"/>
            <a:ext cx="5216700" cy="14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Create your own 3D Cube!</a:t>
            </a:r>
            <a:r>
              <a:rPr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Download a PDF, print and sellotape together to create your own map cube.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hae.re/cube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50172" y="7470226"/>
            <a:ext cx="1511699" cy="17368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44" name="Google Shape;144;p15"/>
          <p:cNvSpPr txBox="1"/>
          <p:nvPr/>
        </p:nvSpPr>
        <p:spPr>
          <a:xfrm>
            <a:off x="10943238" y="4336950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classrooms around the world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1006013" y="5859350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London to the Himalayas! 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hae.re/school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3101363" y="5859653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Or smaller on the outside?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hae.re/tardis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2962163" y="4380128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Bigger on the Inside?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006013" y="4857200"/>
            <a:ext cx="1511700" cy="1035174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49" name="Google Shape;149;p15"/>
          <p:cNvSpPr txBox="1"/>
          <p:nvPr/>
        </p:nvSpPr>
        <p:spPr>
          <a:xfrm>
            <a:off x="10873550" y="10047150"/>
            <a:ext cx="404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This poster: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Resources: 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hae.re/gisday4teachers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i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2887885" y="4882741"/>
            <a:ext cx="1660266" cy="933899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51" name="Google Shape;151;p15"/>
          <p:cNvSpPr txBox="1"/>
          <p:nvPr/>
        </p:nvSpPr>
        <p:spPr>
          <a:xfrm>
            <a:off x="7993063" y="7171675"/>
            <a:ext cx="1307700" cy="15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ARE </a:t>
            </a:r>
            <a:b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13038425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Ready for an off this world experience?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420250" y="9553550"/>
            <a:ext cx="6102300" cy="737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www.gisday.com</a:t>
            </a:r>
            <a:endParaRPr b="1" sz="3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4" name="Google Shape;154;p1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 rot="10800000">
            <a:off x="13204288" y="7649488"/>
            <a:ext cx="1166675" cy="8750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55" name="Google Shape;155;p15"/>
          <p:cNvSpPr/>
          <p:nvPr/>
        </p:nvSpPr>
        <p:spPr>
          <a:xfrm>
            <a:off x="4420250" y="280650"/>
            <a:ext cx="6192600" cy="1168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57225" rotWithShape="0" algn="bl" dir="5400000" dist="19050">
              <a:srgbClr val="073763">
                <a:alpha val="8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 rot="-174069">
            <a:off x="5144054" y="2614637"/>
            <a:ext cx="5073803" cy="2604632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5400000" dist="19050">
              <a:srgbClr val="0000FF">
                <a:alpha val="8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it’s a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42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Happy Mappy, Finey Liney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kind of thing!</a:t>
            </a:r>
            <a:endParaRPr b="1" sz="3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4363350" y="1562325"/>
            <a:ext cx="6249600" cy="1085400"/>
          </a:xfrm>
          <a:prstGeom prst="rect">
            <a:avLst/>
          </a:prstGeom>
          <a:noFill/>
          <a:ln>
            <a:noFill/>
          </a:ln>
          <a:effectLst>
            <a:outerShdw blurRad="600075" rotWithShape="0" algn="bl" dir="5400000" dist="19050">
              <a:srgbClr val="0000FF">
                <a:alpha val="6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Day is Wednesday 14th November.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Celebrate how geographic information systems or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technology is making a difference in our society.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58" name="Google Shape;158;p15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 rot="-900000">
            <a:off x="6686447" y="7057857"/>
            <a:ext cx="1569901" cy="98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894">
            <a:off x="12064638" y="574173"/>
            <a:ext cx="1831126" cy="24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3025175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Ever wonder about the moon's dark side?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hae.re/moon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4507675" y="35450"/>
            <a:ext cx="6015000" cy="1331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   DAY</a:t>
            </a:r>
            <a:endParaRPr b="1" sz="9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234760" y="274365"/>
            <a:ext cx="2249400" cy="10854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14TH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NOV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7" name="Google Shape;16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12649">
            <a:off x="754786" y="413095"/>
            <a:ext cx="2793282" cy="27932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 rot="1798">
            <a:off x="532825" y="3276575"/>
            <a:ext cx="2868300" cy="38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We do maps now, Maps are cool!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532775" y="2660900"/>
            <a:ext cx="30783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INVESTIGATE!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0880975" y="2217200"/>
            <a:ext cx="3362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1092050" y="2660900"/>
            <a:ext cx="36126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PROCRASTINATE!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1075853" y="3324475"/>
            <a:ext cx="3452700" cy="61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There's a map that doesn't make sense. Let's go and poke it with a stick!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532775" y="4578925"/>
            <a:ext cx="3885900" cy="444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Online curriculum material from the LINZ geospatial Virtual Field Trips, from CORE Education’s LEARNZ Programme: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hae.re/2013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Welcome to Geospatial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hae.re/2014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Skills, tools and data 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hae.re/2015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Using drones and tools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hae.re/2016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sea and air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Natural Hazards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Sky and Space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2017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hae.re/2017mmw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2018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hae.re/2018mmw</a:t>
            </a:r>
            <a:b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Eagle Technology GIS in Schools Lesson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plans for the NCEA Geography spatial analysis standards.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hae.re/geo18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NZ Cartographic Society 2016-2017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Children's Map Competition - see the Winners!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hae.re/mapcomp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532775" y="3864450"/>
            <a:ext cx="4651800" cy="9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related activities that school teachers and classes can use:</a:t>
            </a:r>
            <a:endParaRPr b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10886800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Virtual 360 Views of NZ’s Great Walks 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0873550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the rainforest at your place.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hae.re/walk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155863" y="7544300"/>
            <a:ext cx="990901" cy="10853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78" name="Google Shape;178;p16"/>
          <p:cNvSpPr txBox="1"/>
          <p:nvPr/>
        </p:nvSpPr>
        <p:spPr>
          <a:xfrm>
            <a:off x="5041475" y="5511475"/>
            <a:ext cx="5216700" cy="14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Create your own 3D Cube!</a:t>
            </a:r>
            <a:r>
              <a:rPr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Download a PDF, print and sellotape together to create your own map cube.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hae.re/cube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9" name="Google Shape;179;p1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50172" y="7470226"/>
            <a:ext cx="1511699" cy="17368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80" name="Google Shape;180;p16"/>
          <p:cNvSpPr txBox="1"/>
          <p:nvPr/>
        </p:nvSpPr>
        <p:spPr>
          <a:xfrm>
            <a:off x="10943238" y="4336950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classrooms around the world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1006013" y="5859350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London to the Himalayas! 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hae.re/school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13101363" y="5859653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Or smaller on the outside?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hae.re/tardis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2962163" y="4380128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Bigger on the Inside?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84" name="Google Shape;184;p16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006013" y="4857200"/>
            <a:ext cx="1511700" cy="1035174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85" name="Google Shape;185;p16"/>
          <p:cNvSpPr txBox="1"/>
          <p:nvPr/>
        </p:nvSpPr>
        <p:spPr>
          <a:xfrm>
            <a:off x="10873550" y="10047150"/>
            <a:ext cx="404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This poster: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Resources: 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hae.re/gisday4teachers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i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86" name="Google Shape;186;p16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2887885" y="4882741"/>
            <a:ext cx="1660266" cy="933899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187" name="Google Shape;187;p16"/>
          <p:cNvSpPr txBox="1"/>
          <p:nvPr/>
        </p:nvSpPr>
        <p:spPr>
          <a:xfrm>
            <a:off x="7993063" y="7171675"/>
            <a:ext cx="1307700" cy="15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ARE </a:t>
            </a:r>
            <a:b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3038425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Ready for an off this world experience?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420250" y="9553550"/>
            <a:ext cx="6102300" cy="737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www.gisday.com</a:t>
            </a:r>
            <a:endParaRPr b="1" sz="3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 rot="10800000">
            <a:off x="13204288" y="7649488"/>
            <a:ext cx="1166675" cy="8750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191" name="Google Shape;191;p16"/>
          <p:cNvSpPr/>
          <p:nvPr/>
        </p:nvSpPr>
        <p:spPr>
          <a:xfrm>
            <a:off x="4420250" y="280650"/>
            <a:ext cx="6192600" cy="1168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57225" rotWithShape="0" algn="bl" dir="5400000" dist="19050">
              <a:srgbClr val="073763">
                <a:alpha val="8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 rot="-174069">
            <a:off x="5144054" y="2614637"/>
            <a:ext cx="5073803" cy="2604632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5400000" dist="19050">
              <a:srgbClr val="0000FF">
                <a:alpha val="8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it’s a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42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Happy Mappy, Finey Liney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kind of thing!</a:t>
            </a:r>
            <a:endParaRPr b="1" sz="3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4363350" y="1562325"/>
            <a:ext cx="6249600" cy="1085400"/>
          </a:xfrm>
          <a:prstGeom prst="rect">
            <a:avLst/>
          </a:prstGeom>
          <a:noFill/>
          <a:ln>
            <a:noFill/>
          </a:ln>
          <a:effectLst>
            <a:outerShdw blurRad="600075" rotWithShape="0" algn="bl" dir="5400000" dist="19050">
              <a:srgbClr val="0000FF">
                <a:alpha val="6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Day is Wednesday 14th November.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Celebrate how geographic information systems or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technology is making a difference in our society.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94" name="Google Shape;194;p16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 rot="-900000">
            <a:off x="6686447" y="7057857"/>
            <a:ext cx="1569901" cy="98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5894">
            <a:off x="12064638" y="574173"/>
            <a:ext cx="1831126" cy="247106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13025175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Ever wonder about the moon's dark side?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hae.re/moon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4507675" y="35450"/>
            <a:ext cx="6015000" cy="1331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   DAY</a:t>
            </a:r>
            <a:endParaRPr b="1" sz="9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6234760" y="274365"/>
            <a:ext cx="2249400" cy="10854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14TH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NOV</a:t>
            </a:r>
            <a:endParaRPr b="1" sz="3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12649">
            <a:off x="754786" y="413095"/>
            <a:ext cx="2793282" cy="27932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 rot="1798">
            <a:off x="532825" y="3276575"/>
            <a:ext cx="2868300" cy="38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We do maps now, Maps are cool!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532775" y="2660900"/>
            <a:ext cx="30783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INVESTIGATE!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0880975" y="2217200"/>
            <a:ext cx="3362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1092050" y="2660900"/>
            <a:ext cx="3612600" cy="546900"/>
          </a:xfrm>
          <a:prstGeom prst="rect">
            <a:avLst/>
          </a:prstGeom>
          <a:noFill/>
          <a:ln>
            <a:noFill/>
          </a:ln>
          <a:effectLst>
            <a:outerShdw blurRad="800100" rotWithShape="0" algn="bl" dir="5400000" dist="38100">
              <a:srgbClr val="0000FF">
                <a:alpha val="9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PROCRASTINATE!</a:t>
            </a:r>
            <a:endParaRPr b="1" sz="3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1075853" y="3324475"/>
            <a:ext cx="3452700" cy="61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There's a map that doesn't make sense. Let's go and poke it with a stick!</a:t>
            </a:r>
            <a:endParaRPr b="1" sz="1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532775" y="4578925"/>
            <a:ext cx="3885900" cy="444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Online curriculum material from the LINZ geospatial Virtual Field Trips, from CORE Education’s LEARNZ Programme: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hae.re/2013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Welcome to Geospatial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hae.re/2014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Skills, tools and data 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hae.re/2015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Using drones and tools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hae.re/2016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sea and air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Natural Hazards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oogle Sans"/>
              <a:buChar char="●"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</a:t>
            </a:r>
            <a: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Land, Sky and Space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2017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hae.re/2017mmw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2018 Map My Waahi: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hae.re/2018mmw</a:t>
            </a:r>
            <a:b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b="1"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Eagle Technology GIS in Schools Lesson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plans for the NCEA Geography spatial analysis standards. </a:t>
            </a: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hae.re/geo18 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NZ Cartographic Society 2016-2017 </a:t>
            </a:r>
            <a:b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" sz="1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Children's Map Competition - see the Winners!</a:t>
            </a:r>
            <a:endParaRPr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hae.re/mapcomp</a:t>
            </a:r>
            <a:endParaRPr b="1" sz="1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532775" y="3864450"/>
            <a:ext cx="4651800" cy="9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GIS related activities that school teachers and classes can use:</a:t>
            </a:r>
            <a:endParaRPr b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10886800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Virtual 360 Views of NZ’s Great Walks 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10873550" y="8678550"/>
            <a:ext cx="1569900" cy="73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the rainforest at your place.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hae.re/walk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3" name="Google Shape;213;p1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155863" y="7544300"/>
            <a:ext cx="990901" cy="10853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214" name="Google Shape;214;p17"/>
          <p:cNvSpPr txBox="1"/>
          <p:nvPr/>
        </p:nvSpPr>
        <p:spPr>
          <a:xfrm>
            <a:off x="5041475" y="5511475"/>
            <a:ext cx="5216700" cy="14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Create your own 3D Cube!</a:t>
            </a:r>
            <a:r>
              <a:rPr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Download a PDF, print and sellotape together to create your own map cube.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hae.re/cube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5" name="Google Shape;215;p1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750172" y="7470226"/>
            <a:ext cx="1511699" cy="1736801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216" name="Google Shape;216;p17"/>
          <p:cNvSpPr txBox="1"/>
          <p:nvPr/>
        </p:nvSpPr>
        <p:spPr>
          <a:xfrm>
            <a:off x="10943238" y="4336950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Explore classrooms around the world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11006013" y="5859350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London to the Himalayas! 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hae.re/school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13101363" y="5859653"/>
            <a:ext cx="1372500" cy="85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Or smaller on the outside?</a:t>
            </a:r>
            <a:b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11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hae.re/tardis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12962163" y="4380128"/>
            <a:ext cx="15117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Bigger on the Inside?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1006013" y="4857200"/>
            <a:ext cx="1511700" cy="1035174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221" name="Google Shape;221;p17"/>
          <p:cNvSpPr txBox="1"/>
          <p:nvPr/>
        </p:nvSpPr>
        <p:spPr>
          <a:xfrm>
            <a:off x="10873550" y="10047150"/>
            <a:ext cx="404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This poster: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i="1" lang="en"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Resources:  	</a:t>
            </a:r>
            <a: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hae.re/gisday4teachers</a:t>
            </a:r>
            <a:br>
              <a:rPr i="1" lang="en" sz="1800" u="sng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i="1" sz="1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2" name="Google Shape;222;p17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12887885" y="4882741"/>
            <a:ext cx="1660266" cy="933899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9050">
              <a:srgbClr val="FFFFFF">
                <a:alpha val="50000"/>
              </a:srgbClr>
            </a:outerShdw>
          </a:effectLst>
        </p:spPr>
      </p:pic>
      <p:sp>
        <p:nvSpPr>
          <p:cNvPr id="223" name="Google Shape;223;p17"/>
          <p:cNvSpPr txBox="1"/>
          <p:nvPr/>
        </p:nvSpPr>
        <p:spPr>
          <a:xfrm>
            <a:off x="7993063" y="7171675"/>
            <a:ext cx="1307700" cy="15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ARE </a:t>
            </a:r>
            <a:b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HERE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13038425" y="7035850"/>
            <a:ext cx="1611000" cy="4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Ready for an off this world experience?</a:t>
            </a:r>
            <a:endParaRPr b="1"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4420250" y="9553550"/>
            <a:ext cx="6102300" cy="737700"/>
          </a:xfrm>
          <a:prstGeom prst="rect">
            <a:avLst/>
          </a:prstGeom>
          <a:noFill/>
          <a:ln>
            <a:noFill/>
          </a:ln>
          <a:effectLst>
            <a:outerShdw blurRad="957263" rotWithShape="0" algn="bl" dir="2760000" dist="19050">
              <a:srgbClr val="1155CC">
                <a:alpha val="83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www.gisday.com</a:t>
            </a:r>
            <a:endParaRPr b="1" sz="3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 rot="10800000">
            <a:off x="13204288" y="7649488"/>
            <a:ext cx="1166675" cy="8750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66675">
              <a:srgbClr val="FFFFFF">
                <a:alpha val="50000"/>
              </a:srgbClr>
            </a:outerShdw>
          </a:effectLst>
        </p:spPr>
      </p:pic>
      <p:sp>
        <p:nvSpPr>
          <p:cNvPr id="227" name="Google Shape;227;p17"/>
          <p:cNvSpPr/>
          <p:nvPr/>
        </p:nvSpPr>
        <p:spPr>
          <a:xfrm>
            <a:off x="4420250" y="280650"/>
            <a:ext cx="6192600" cy="1168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57225" rotWithShape="0" algn="bl" dir="5400000" dist="19050">
              <a:srgbClr val="073763">
                <a:alpha val="8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 rot="-174069">
            <a:off x="5144054" y="2614637"/>
            <a:ext cx="5073803" cy="2604632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5400000" dist="19050">
              <a:srgbClr val="0000FF">
                <a:alpha val="8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it’s a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42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Happy Mappy, Finey Liney </a:t>
            </a:r>
            <a:b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</a:br>
            <a:r>
              <a:rPr b="1" lang="en" sz="3800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kind of thing!</a:t>
            </a:r>
            <a:endParaRPr b="1" sz="3800">
              <a:solidFill>
                <a:srgbClr val="FF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363350" y="1562325"/>
            <a:ext cx="6249600" cy="1085400"/>
          </a:xfrm>
          <a:prstGeom prst="rect">
            <a:avLst/>
          </a:prstGeom>
          <a:noFill/>
          <a:ln>
            <a:noFill/>
          </a:ln>
          <a:effectLst>
            <a:outerShdw blurRad="600075" rotWithShape="0" algn="bl" dir="5400000" dist="19050">
              <a:srgbClr val="0000FF">
                <a:alpha val="6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Day is Wednesday 14th November.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Celebrate how geographic information systems or 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atamaran"/>
                <a:ea typeface="Catamaran"/>
                <a:cs typeface="Catamaran"/>
                <a:sym typeface="Catamaran"/>
              </a:rPr>
              <a:t>GIS technology is making a difference in our society.</a:t>
            </a:r>
            <a:endParaRPr b="1" sz="1800">
              <a:solidFill>
                <a:srgbClr val="FFFFFF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230" name="Google Shape;230;p17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 rot="-900000">
            <a:off x="6686447" y="7057857"/>
            <a:ext cx="1569901" cy="98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